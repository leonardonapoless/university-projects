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Gelasi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z1D+wUhU3eUJageN6WOmTNMZZ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Gelasio-regular.fntdata"/><Relationship Id="rId14" Type="http://schemas.openxmlformats.org/officeDocument/2006/relationships/slide" Target="slides/slide10.xml"/><Relationship Id="rId17" Type="http://schemas.openxmlformats.org/officeDocument/2006/relationships/font" Target="fonts/Gelasio-italic.fntdata"/><Relationship Id="rId16" Type="http://schemas.openxmlformats.org/officeDocument/2006/relationships/font" Target="fonts/Gelasio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Gelasi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a7b71756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3a7b71756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3a7b71756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a7b71756a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3a7b71756a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3a7b71756a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youtube.com/watch?v=YxtFctEsHy0" TargetMode="External"/><Relationship Id="rId4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/>
          <p:nvPr/>
        </p:nvSpPr>
        <p:spPr>
          <a:xfrm>
            <a:off x="6280190" y="245054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RISC-V</a:t>
            </a:r>
            <a:endParaRPr b="0" i="0" sz="4450" u="none" cap="none" strike="noStrike"/>
          </a:p>
        </p:txBody>
      </p:sp>
      <p:sp>
        <p:nvSpPr>
          <p:cNvPr id="50" name="Google Shape;50;p1"/>
          <p:cNvSpPr/>
          <p:nvPr/>
        </p:nvSpPr>
        <p:spPr>
          <a:xfrm>
            <a:off x="6280190" y="3499485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O Milk-V SG2000 é um chip de baixo consumo de energia, projetado para câmeras de vigilância, máquinas de reconhecimento facial e dispositivos de casa inteligente.</a:t>
            </a:r>
            <a:endParaRPr b="0" i="0" sz="1750" u="none" cap="none" strike="noStrike"/>
          </a:p>
        </p:txBody>
      </p:sp>
      <p:sp>
        <p:nvSpPr>
          <p:cNvPr id="51" name="Google Shape;51;p1"/>
          <p:cNvSpPr/>
          <p:nvPr/>
        </p:nvSpPr>
        <p:spPr>
          <a:xfrm>
            <a:off x="6280190" y="4928354"/>
            <a:ext cx="3402330" cy="850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650"/>
              <a:buFont typeface="Gelasio"/>
              <a:buNone/>
            </a:pPr>
            <a:r>
              <a:rPr b="0" i="0" lang="en-US" sz="26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Bruno Teles</a:t>
            </a:r>
            <a:br>
              <a:rPr b="0" i="0" lang="en-US" sz="26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</a:br>
            <a:r>
              <a:rPr b="0" i="0" lang="en-US" sz="26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Leonardo Lapoles</a:t>
            </a:r>
            <a:endParaRPr b="0" i="0" sz="26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6280190" y="164258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Recursos do SG2000</a:t>
            </a:r>
            <a:endParaRPr b="0" i="0" sz="4450" u="none" cap="none" strike="noStrike"/>
          </a:p>
        </p:txBody>
      </p:sp>
      <p:sp>
        <p:nvSpPr>
          <p:cNvPr id="59" name="Google Shape;59;p2"/>
          <p:cNvSpPr/>
          <p:nvPr/>
        </p:nvSpPr>
        <p:spPr>
          <a:xfrm>
            <a:off x="6280190" y="294667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462236" y="3031688"/>
            <a:ext cx="14620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650"/>
              <a:buFont typeface="Gelasio"/>
              <a:buNone/>
            </a:pPr>
            <a:r>
              <a:rPr b="0" i="0" lang="en-US" sz="2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1</a:t>
            </a:r>
            <a:endParaRPr b="0" i="0" sz="265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7017306" y="29466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Compressão de Vídeo</a:t>
            </a:r>
            <a:endParaRPr b="0" i="0" sz="2200" u="none" cap="none" strike="noStrike"/>
          </a:p>
        </p:txBody>
      </p:sp>
      <p:sp>
        <p:nvSpPr>
          <p:cNvPr id="62" name="Google Shape;62;p2"/>
          <p:cNvSpPr/>
          <p:nvPr/>
        </p:nvSpPr>
        <p:spPr>
          <a:xfrm>
            <a:off x="7017306" y="3437096"/>
            <a:ext cx="2927747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Ele conta com compressão de vídeo H.264/H.265, capacidades de ISP e suporte a HDR.</a:t>
            </a:r>
            <a:endParaRPr b="0" i="0" sz="1750" u="none" cap="none" strike="noStrike"/>
          </a:p>
        </p:txBody>
      </p:sp>
      <p:sp>
        <p:nvSpPr>
          <p:cNvPr id="63" name="Google Shape;63;p2"/>
          <p:cNvSpPr/>
          <p:nvPr/>
        </p:nvSpPr>
        <p:spPr>
          <a:xfrm>
            <a:off x="10171867" y="294667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10332006" y="3031688"/>
            <a:ext cx="190024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650"/>
              <a:buFont typeface="Gelasio"/>
              <a:buNone/>
            </a:pPr>
            <a:r>
              <a:rPr b="0" i="0" lang="en-US" sz="2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2</a:t>
            </a:r>
            <a:endParaRPr b="0" i="0" sz="2650" u="none" cap="none" strike="noStrike"/>
          </a:p>
        </p:txBody>
      </p:sp>
      <p:sp>
        <p:nvSpPr>
          <p:cNvPr id="65" name="Google Shape;65;p2"/>
          <p:cNvSpPr/>
          <p:nvPr/>
        </p:nvSpPr>
        <p:spPr>
          <a:xfrm>
            <a:off x="10908983" y="2946678"/>
            <a:ext cx="2927747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Processamento de Imagem</a:t>
            </a:r>
            <a:endParaRPr b="0" i="0" sz="220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10908983" y="3791426"/>
            <a:ext cx="292774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Redução de ruído 3D, remoção de neblina e correção de lente.</a:t>
            </a:r>
            <a:endParaRPr b="0" i="0" sz="1750" u="none" cap="none" strike="noStrike"/>
          </a:p>
        </p:txBody>
      </p:sp>
      <p:sp>
        <p:nvSpPr>
          <p:cNvPr id="67" name="Google Shape;67;p2"/>
          <p:cNvSpPr/>
          <p:nvPr/>
        </p:nvSpPr>
        <p:spPr>
          <a:xfrm>
            <a:off x="6280190" y="5370671"/>
            <a:ext cx="510302" cy="510302"/>
          </a:xfrm>
          <a:prstGeom prst="roundRect">
            <a:avLst>
              <a:gd fmla="val 6667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441400" y="5455682"/>
            <a:ext cx="187762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650"/>
              <a:buFont typeface="Gelasio"/>
              <a:buNone/>
            </a:pPr>
            <a:r>
              <a:rPr b="0" i="0" lang="en-US" sz="2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3</a:t>
            </a:r>
            <a:endParaRPr b="0" i="0" sz="265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7017306" y="537067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Baixo Consumo</a:t>
            </a:r>
            <a:endParaRPr b="0" i="0" sz="220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7017306" y="5861090"/>
            <a:ext cx="681930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Projetado para ser energeticamente eficiente em diversos dispositivos.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793790" y="2539960"/>
            <a:ext cx="930842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Unidade de Processamento Tensorial</a:t>
            </a:r>
            <a:endParaRPr b="0" i="0" sz="4450" u="none" cap="none" strike="noStrike"/>
          </a:p>
        </p:txBody>
      </p:sp>
      <p:sp>
        <p:nvSpPr>
          <p:cNvPr id="77" name="Google Shape;77;p3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TPU Proprietária</a:t>
            </a:r>
            <a:endParaRPr b="0" i="0" sz="2200" u="none" cap="none" strike="noStrike"/>
          </a:p>
        </p:txBody>
      </p:sp>
      <p:sp>
        <p:nvSpPr>
          <p:cNvPr id="78" name="Google Shape;78;p3"/>
          <p:cNvSpPr/>
          <p:nvPr/>
        </p:nvSpPr>
        <p:spPr>
          <a:xfrm>
            <a:off x="793790" y="4396859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O chip também integra uma TPU proprietária, oferecendo aproximadamente 0.5 TOPS de poder de processamento em operações INT8.</a:t>
            </a:r>
            <a:endParaRPr b="0" i="0" sz="1750" u="none" cap="none" strike="noStrike"/>
          </a:p>
        </p:txBody>
      </p:sp>
      <p:sp>
        <p:nvSpPr>
          <p:cNvPr id="79" name="Google Shape;79;p3"/>
          <p:cNvSpPr/>
          <p:nvPr/>
        </p:nvSpPr>
        <p:spPr>
          <a:xfrm>
            <a:off x="7599521" y="3815715"/>
            <a:ext cx="363188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Mecanismo de Agendamento</a:t>
            </a:r>
            <a:endParaRPr b="0" i="0" sz="2200" u="none" cap="none" strike="noStrike"/>
          </a:p>
        </p:txBody>
      </p:sp>
      <p:sp>
        <p:nvSpPr>
          <p:cNvPr id="80" name="Google Shape;80;p3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O mecanismo de agendamento da TPU, especialmente projetado, fornece de fluxo de dados de forma eficiente para os núcleos da unidade de processamento tensorial.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793790" y="2040969"/>
            <a:ext cx="622768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Suporte a Deep Learning</a:t>
            </a:r>
            <a:endParaRPr b="0" i="0" sz="4450" u="none" cap="none" strike="noStrike"/>
          </a:p>
        </p:txBody>
      </p:sp>
      <p:pic>
        <p:nvPicPr>
          <p:cNvPr descr="preencoded.png" id="88" name="Google Shape;8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308991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793790" y="388370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SDK</a:t>
            </a:r>
            <a:endParaRPr b="0" i="0" sz="2200" u="none" cap="none" strike="noStrike"/>
          </a:p>
        </p:txBody>
      </p:sp>
      <p:sp>
        <p:nvSpPr>
          <p:cNvPr id="90" name="Google Shape;90;p4"/>
          <p:cNvSpPr/>
          <p:nvPr/>
        </p:nvSpPr>
        <p:spPr>
          <a:xfrm>
            <a:off x="793790" y="4374118"/>
            <a:ext cx="360807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Disponibiliza aos usuários um compilador de modelos de deep learning e um kit de desenvolvimento de software (SDK).</a:t>
            </a:r>
            <a:endParaRPr b="0" i="0" sz="1750" u="none" cap="none" strike="noStrike"/>
          </a:p>
        </p:txBody>
      </p:sp>
      <p:pic>
        <p:nvPicPr>
          <p:cNvPr descr="preencoded.png" id="91" name="Google Shape;9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2021" y="308991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4742021" y="388370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Frameworks</a:t>
            </a:r>
            <a:endParaRPr b="0" i="0" sz="2200" u="none" cap="none" strike="noStrike"/>
          </a:p>
        </p:txBody>
      </p:sp>
      <p:sp>
        <p:nvSpPr>
          <p:cNvPr id="93" name="Google Shape;93;p4"/>
          <p:cNvSpPr/>
          <p:nvPr/>
        </p:nvSpPr>
        <p:spPr>
          <a:xfrm>
            <a:off x="4742021" y="4374118"/>
            <a:ext cx="360818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Frameworks de deep learning amplamente utilizados, como Caffe, Pytorch, MXNet e TensorFlow (Lite), podem ser facilmente portados para essa plataforma.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9" name="Google Shape;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793790" y="63615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Aplicações</a:t>
            </a:r>
            <a:endParaRPr b="0" i="0" sz="4450" u="none" cap="none" strike="noStrike"/>
          </a:p>
        </p:txBody>
      </p:sp>
      <p:sp>
        <p:nvSpPr>
          <p:cNvPr id="101" name="Google Shape;101;p5"/>
          <p:cNvSpPr/>
          <p:nvPr/>
        </p:nvSpPr>
        <p:spPr>
          <a:xfrm>
            <a:off x="793790" y="1685092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020604" y="1911906"/>
            <a:ext cx="408170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Fechaduras de porta inteligentes</a:t>
            </a:r>
            <a:endParaRPr b="0" i="0" sz="2200" u="none" cap="none" strike="noStrike"/>
          </a:p>
        </p:txBody>
      </p:sp>
      <p:sp>
        <p:nvSpPr>
          <p:cNvPr id="103" name="Google Shape;103;p5"/>
          <p:cNvSpPr/>
          <p:nvPr/>
        </p:nvSpPr>
        <p:spPr>
          <a:xfrm>
            <a:off x="1020604" y="2402324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Ideal para sistemas de segurança residencial e comercial.</a:t>
            </a:r>
            <a:endParaRPr b="0" i="0" sz="1750" u="none" cap="none" strike="noStrike"/>
          </a:p>
        </p:txBody>
      </p:sp>
      <p:sp>
        <p:nvSpPr>
          <p:cNvPr id="104" name="Google Shape;104;p5"/>
          <p:cNvSpPr/>
          <p:nvPr/>
        </p:nvSpPr>
        <p:spPr>
          <a:xfrm>
            <a:off x="793790" y="3218855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1020604" y="34456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Conferência de vídeo</a:t>
            </a:r>
            <a:endParaRPr b="0" i="0" sz="2200" u="none" cap="none" strike="noStrike"/>
          </a:p>
        </p:txBody>
      </p:sp>
      <p:sp>
        <p:nvSpPr>
          <p:cNvPr id="106" name="Google Shape;106;p5"/>
          <p:cNvSpPr/>
          <p:nvPr/>
        </p:nvSpPr>
        <p:spPr>
          <a:xfrm>
            <a:off x="1020604" y="3936087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Processamento eficiente para comunicação em tempo real.</a:t>
            </a:r>
            <a:endParaRPr b="0" i="0" sz="1750" u="none" cap="none" strike="noStrike"/>
          </a:p>
        </p:txBody>
      </p:sp>
      <p:sp>
        <p:nvSpPr>
          <p:cNvPr id="107" name="Google Shape;107;p5"/>
          <p:cNvSpPr/>
          <p:nvPr/>
        </p:nvSpPr>
        <p:spPr>
          <a:xfrm>
            <a:off x="793790" y="4752618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1020604" y="49794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IoT</a:t>
            </a:r>
            <a:endParaRPr b="0" i="0" sz="2200" u="none" cap="none" strike="noStrike"/>
          </a:p>
        </p:txBody>
      </p:sp>
      <p:sp>
        <p:nvSpPr>
          <p:cNvPr id="109" name="Google Shape;109;p5"/>
          <p:cNvSpPr/>
          <p:nvPr/>
        </p:nvSpPr>
        <p:spPr>
          <a:xfrm>
            <a:off x="1020604" y="5469850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Integração com dispositivos de Internet das Coisas.</a:t>
            </a:r>
            <a:endParaRPr b="0" i="0" sz="1750" u="none" cap="none" strike="noStrike"/>
          </a:p>
        </p:txBody>
      </p:sp>
      <p:sp>
        <p:nvSpPr>
          <p:cNvPr id="110" name="Google Shape;110;p5"/>
          <p:cNvSpPr/>
          <p:nvPr/>
        </p:nvSpPr>
        <p:spPr>
          <a:xfrm>
            <a:off x="793790" y="6286381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1020604" y="651319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Transporte Inteligente</a:t>
            </a:r>
            <a:endParaRPr b="0" i="0" sz="2200" u="none" cap="none" strike="noStrike"/>
          </a:p>
        </p:txBody>
      </p:sp>
      <p:sp>
        <p:nvSpPr>
          <p:cNvPr id="112" name="Google Shape;112;p5"/>
          <p:cNvSpPr/>
          <p:nvPr/>
        </p:nvSpPr>
        <p:spPr>
          <a:xfrm>
            <a:off x="1020604" y="7003613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Aplicações em sistemas de monitoramento e gestão de tráfego.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a7b71756a_0_0"/>
          <p:cNvSpPr/>
          <p:nvPr/>
        </p:nvSpPr>
        <p:spPr>
          <a:xfrm>
            <a:off x="793790" y="833199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Especificações da CPU</a:t>
            </a:r>
            <a:endParaRPr b="0" i="0" sz="4450" u="none" cap="none" strike="noStrike"/>
          </a:p>
        </p:txBody>
      </p:sp>
      <p:sp>
        <p:nvSpPr>
          <p:cNvPr id="119" name="Google Shape;119;g33a7b71756a_0_0"/>
          <p:cNvSpPr/>
          <p:nvPr/>
        </p:nvSpPr>
        <p:spPr>
          <a:xfrm>
            <a:off x="793790" y="1995607"/>
            <a:ext cx="170100" cy="853200"/>
          </a:xfrm>
          <a:prstGeom prst="roundRect">
            <a:avLst>
              <a:gd fmla="val 20012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3a7b71756a_0_0"/>
          <p:cNvSpPr/>
          <p:nvPr/>
        </p:nvSpPr>
        <p:spPr>
          <a:xfrm>
            <a:off x="1303973" y="199560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CPU RISC-V</a:t>
            </a:r>
            <a:endParaRPr b="0" i="0" sz="2200" u="none" cap="none" strike="noStrike"/>
          </a:p>
        </p:txBody>
      </p:sp>
      <p:sp>
        <p:nvSpPr>
          <p:cNvPr id="121" name="Google Shape;121;g33a7b71756a_0_0"/>
          <p:cNvSpPr/>
          <p:nvPr/>
        </p:nvSpPr>
        <p:spPr>
          <a:xfrm>
            <a:off x="1303973" y="2486025"/>
            <a:ext cx="12532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1 x C906@1GHz + 1 x C906@700MHz</a:t>
            </a:r>
            <a:endParaRPr b="0" i="0" sz="1750" u="none" cap="none" strike="noStrike"/>
          </a:p>
        </p:txBody>
      </p:sp>
      <p:sp>
        <p:nvSpPr>
          <p:cNvPr id="122" name="Google Shape;122;g33a7b71756a_0_0"/>
          <p:cNvSpPr/>
          <p:nvPr/>
        </p:nvSpPr>
        <p:spPr>
          <a:xfrm>
            <a:off x="1133951" y="3075742"/>
            <a:ext cx="170100" cy="853200"/>
          </a:xfrm>
          <a:prstGeom prst="roundRect">
            <a:avLst>
              <a:gd fmla="val 20012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3a7b71756a_0_0"/>
          <p:cNvSpPr/>
          <p:nvPr/>
        </p:nvSpPr>
        <p:spPr>
          <a:xfrm>
            <a:off x="1644134" y="307574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CPU Arm</a:t>
            </a:r>
            <a:endParaRPr b="0" i="0" sz="2200" u="none" cap="none" strike="noStrike"/>
          </a:p>
        </p:txBody>
      </p:sp>
      <p:sp>
        <p:nvSpPr>
          <p:cNvPr id="124" name="Google Shape;124;g33a7b71756a_0_0"/>
          <p:cNvSpPr/>
          <p:nvPr/>
        </p:nvSpPr>
        <p:spPr>
          <a:xfrm>
            <a:off x="1644134" y="3566160"/>
            <a:ext cx="12192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1 x Cortex-A53@1GHz</a:t>
            </a:r>
            <a:endParaRPr b="0" i="0" sz="1750" u="none" cap="none" strike="noStrike"/>
          </a:p>
        </p:txBody>
      </p:sp>
      <p:sp>
        <p:nvSpPr>
          <p:cNvPr id="125" name="Google Shape;125;g33a7b71756a_0_0"/>
          <p:cNvSpPr/>
          <p:nvPr/>
        </p:nvSpPr>
        <p:spPr>
          <a:xfrm>
            <a:off x="1474232" y="4155877"/>
            <a:ext cx="170100" cy="853200"/>
          </a:xfrm>
          <a:prstGeom prst="roundRect">
            <a:avLst>
              <a:gd fmla="val 20012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3a7b71756a_0_0"/>
          <p:cNvSpPr/>
          <p:nvPr/>
        </p:nvSpPr>
        <p:spPr>
          <a:xfrm>
            <a:off x="1984415" y="415587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MCU</a:t>
            </a:r>
            <a:endParaRPr b="0" i="0" sz="2200" u="none" cap="none" strike="noStrike"/>
          </a:p>
        </p:txBody>
      </p:sp>
      <p:sp>
        <p:nvSpPr>
          <p:cNvPr id="127" name="Google Shape;127;g33a7b71756a_0_0"/>
          <p:cNvSpPr/>
          <p:nvPr/>
        </p:nvSpPr>
        <p:spPr>
          <a:xfrm>
            <a:off x="1984415" y="4646295"/>
            <a:ext cx="11852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8051@6KB SRAM</a:t>
            </a:r>
            <a:endParaRPr b="0" i="0" sz="1750" u="none" cap="none" strike="noStrike"/>
          </a:p>
        </p:txBody>
      </p:sp>
      <p:sp>
        <p:nvSpPr>
          <p:cNvPr id="128" name="Google Shape;128;g33a7b71756a_0_0"/>
          <p:cNvSpPr/>
          <p:nvPr/>
        </p:nvSpPr>
        <p:spPr>
          <a:xfrm>
            <a:off x="1814513" y="5236012"/>
            <a:ext cx="170100" cy="853200"/>
          </a:xfrm>
          <a:prstGeom prst="roundRect">
            <a:avLst>
              <a:gd fmla="val 20012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3a7b71756a_0_0"/>
          <p:cNvSpPr/>
          <p:nvPr/>
        </p:nvSpPr>
        <p:spPr>
          <a:xfrm>
            <a:off x="2324695" y="523601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NPU</a:t>
            </a:r>
            <a:endParaRPr b="0" i="0" sz="2200" u="none" cap="none" strike="noStrike"/>
          </a:p>
        </p:txBody>
      </p:sp>
      <p:sp>
        <p:nvSpPr>
          <p:cNvPr id="130" name="Google Shape;130;g33a7b71756a_0_0"/>
          <p:cNvSpPr/>
          <p:nvPr/>
        </p:nvSpPr>
        <p:spPr>
          <a:xfrm>
            <a:off x="2324695" y="5726430"/>
            <a:ext cx="11511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0.5 TOPS@INT8</a:t>
            </a:r>
            <a:endParaRPr b="0" i="0" sz="1750" u="none" cap="none" strike="noStrike"/>
          </a:p>
        </p:txBody>
      </p:sp>
      <p:sp>
        <p:nvSpPr>
          <p:cNvPr id="131" name="Google Shape;131;g33a7b71756a_0_0"/>
          <p:cNvSpPr/>
          <p:nvPr/>
        </p:nvSpPr>
        <p:spPr>
          <a:xfrm>
            <a:off x="1474232" y="6316147"/>
            <a:ext cx="170100" cy="853200"/>
          </a:xfrm>
          <a:prstGeom prst="roundRect">
            <a:avLst>
              <a:gd fmla="val 20012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3a7b71756a_0_0"/>
          <p:cNvSpPr/>
          <p:nvPr/>
        </p:nvSpPr>
        <p:spPr>
          <a:xfrm>
            <a:off x="1984415" y="631614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Memória</a:t>
            </a:r>
            <a:endParaRPr b="0" i="0" sz="2200" u="none" cap="none" strike="noStrike"/>
          </a:p>
        </p:txBody>
      </p:sp>
      <p:sp>
        <p:nvSpPr>
          <p:cNvPr id="133" name="Google Shape;133;g33a7b71756a_0_0"/>
          <p:cNvSpPr/>
          <p:nvPr/>
        </p:nvSpPr>
        <p:spPr>
          <a:xfrm>
            <a:off x="1984415" y="6806565"/>
            <a:ext cx="11852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Sip DRAM 512M</a:t>
            </a:r>
            <a:endParaRPr b="0" i="0" sz="1750" u="none" cap="none" strike="noStrike"/>
          </a:p>
        </p:txBody>
      </p:sp>
      <p:pic>
        <p:nvPicPr>
          <p:cNvPr id="134" name="Google Shape;134;g33a7b71756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6575" y="1335625"/>
            <a:ext cx="9482926" cy="59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3175" y="426375"/>
            <a:ext cx="7964052" cy="73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793790" y="685800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Módulos de Mídia e Armazenamento</a:t>
            </a:r>
            <a:endParaRPr b="0" i="0" sz="4450" u="none" cap="none" strike="noStrike"/>
          </a:p>
        </p:txBody>
      </p:sp>
      <p:sp>
        <p:nvSpPr>
          <p:cNvPr id="147" name="Google Shape;147;p7"/>
          <p:cNvSpPr/>
          <p:nvPr/>
        </p:nvSpPr>
        <p:spPr>
          <a:xfrm>
            <a:off x="1118711" y="2443520"/>
            <a:ext cx="30480" cy="5100280"/>
          </a:xfrm>
          <a:prstGeom prst="roundRect">
            <a:avLst>
              <a:gd fmla="val 111628" name="adj"/>
            </a:avLst>
          </a:prstGeom>
          <a:solidFill>
            <a:srgbClr val="504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358622" y="2938582"/>
            <a:ext cx="793790" cy="30480"/>
          </a:xfrm>
          <a:prstGeom prst="roundRect">
            <a:avLst>
              <a:gd fmla="val 111628" name="adj"/>
            </a:avLst>
          </a:prstGeom>
          <a:solidFill>
            <a:srgbClr val="504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878800" y="2698671"/>
            <a:ext cx="510302" cy="510302"/>
          </a:xfrm>
          <a:prstGeom prst="roundRect">
            <a:avLst>
              <a:gd fmla="val 6667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1060847" y="2783681"/>
            <a:ext cx="14620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650"/>
              <a:buFont typeface="Gelasio"/>
              <a:buNone/>
            </a:pPr>
            <a:r>
              <a:rPr b="0" i="0" lang="en-US" sz="2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1</a:t>
            </a:r>
            <a:endParaRPr b="0" i="0" sz="2650" u="none" cap="none" strike="noStrike"/>
          </a:p>
        </p:txBody>
      </p:sp>
      <p:sp>
        <p:nvSpPr>
          <p:cNvPr id="151" name="Google Shape;151;p7"/>
          <p:cNvSpPr/>
          <p:nvPr/>
        </p:nvSpPr>
        <p:spPr>
          <a:xfrm>
            <a:off x="2381488" y="26703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Módulo de Vídeo</a:t>
            </a:r>
            <a:endParaRPr b="0" i="0" sz="2200" u="none" cap="none" strike="noStrike"/>
          </a:p>
        </p:txBody>
      </p:sp>
      <p:sp>
        <p:nvSpPr>
          <p:cNvPr id="152" name="Google Shape;152;p7"/>
          <p:cNvSpPr/>
          <p:nvPr/>
        </p:nvSpPr>
        <p:spPr>
          <a:xfrm>
            <a:off x="2381488" y="3160752"/>
            <a:ext cx="596872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ISP 5M@30fps, 2L MIPI DSI 5M@30fps, 4L or 2L+2L MIPI CSI 5M@30fps, H.265/H.264 Decoding and Encoding 5M@30fps</a:t>
            </a:r>
            <a:endParaRPr b="0" i="0" sz="1750" u="none" cap="none" strike="noStrike"/>
          </a:p>
        </p:txBody>
      </p:sp>
      <p:sp>
        <p:nvSpPr>
          <p:cNvPr id="153" name="Google Shape;153;p7"/>
          <p:cNvSpPr/>
          <p:nvPr/>
        </p:nvSpPr>
        <p:spPr>
          <a:xfrm>
            <a:off x="1358622" y="5198150"/>
            <a:ext cx="793790" cy="30480"/>
          </a:xfrm>
          <a:prstGeom prst="roundRect">
            <a:avLst>
              <a:gd fmla="val 111628" name="adj"/>
            </a:avLst>
          </a:prstGeom>
          <a:solidFill>
            <a:srgbClr val="504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878800" y="495823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1038939" y="5043249"/>
            <a:ext cx="190024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650"/>
              <a:buFont typeface="Gelasio"/>
              <a:buNone/>
            </a:pPr>
            <a:r>
              <a:rPr b="0" i="0" lang="en-US" sz="2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2</a:t>
            </a:r>
            <a:endParaRPr b="0" i="0" sz="2650" u="none" cap="none" strike="noStrike"/>
          </a:p>
        </p:txBody>
      </p:sp>
      <p:sp>
        <p:nvSpPr>
          <p:cNvPr id="156" name="Google Shape;156;p7"/>
          <p:cNvSpPr/>
          <p:nvPr/>
        </p:nvSpPr>
        <p:spPr>
          <a:xfrm>
            <a:off x="2381488" y="492990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Módulo de Áudio</a:t>
            </a:r>
            <a:endParaRPr b="0" i="0" sz="2200" u="none" cap="none" strike="noStrike"/>
          </a:p>
        </p:txBody>
      </p:sp>
      <p:sp>
        <p:nvSpPr>
          <p:cNvPr id="157" name="Google Shape;157;p7"/>
          <p:cNvSpPr/>
          <p:nvPr/>
        </p:nvSpPr>
        <p:spPr>
          <a:xfrm>
            <a:off x="2381488" y="5420320"/>
            <a:ext cx="596872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16bit Audio Codec, 2 x I2S/PCM, 1 x DMIC</a:t>
            </a:r>
            <a:endParaRPr b="0" i="0" sz="1750" u="none" cap="none" strike="noStrike"/>
          </a:p>
        </p:txBody>
      </p:sp>
      <p:sp>
        <p:nvSpPr>
          <p:cNvPr id="158" name="Google Shape;158;p7"/>
          <p:cNvSpPr/>
          <p:nvPr/>
        </p:nvSpPr>
        <p:spPr>
          <a:xfrm>
            <a:off x="1358622" y="6731913"/>
            <a:ext cx="793790" cy="30480"/>
          </a:xfrm>
          <a:prstGeom prst="roundRect">
            <a:avLst>
              <a:gd fmla="val 111628" name="adj"/>
            </a:avLst>
          </a:prstGeom>
          <a:solidFill>
            <a:srgbClr val="504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878800" y="649200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1040011" y="6577013"/>
            <a:ext cx="187762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650"/>
              <a:buFont typeface="Gelasio"/>
              <a:buNone/>
            </a:pPr>
            <a:r>
              <a:rPr b="0" i="0" lang="en-US" sz="2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3</a:t>
            </a:r>
            <a:endParaRPr b="0" i="0" sz="2650" u="none" cap="none" strike="noStrike"/>
          </a:p>
        </p:txBody>
      </p:sp>
      <p:sp>
        <p:nvSpPr>
          <p:cNvPr id="161" name="Google Shape;161;p7"/>
          <p:cNvSpPr/>
          <p:nvPr/>
        </p:nvSpPr>
        <p:spPr>
          <a:xfrm>
            <a:off x="2381488" y="646366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Armazenamento</a:t>
            </a:r>
            <a:endParaRPr b="0" i="0" sz="2200" u="none" cap="none" strike="noStrike"/>
          </a:p>
        </p:txBody>
      </p:sp>
      <p:sp>
        <p:nvSpPr>
          <p:cNvPr id="162" name="Google Shape;162;p7"/>
          <p:cNvSpPr/>
          <p:nvPr/>
        </p:nvSpPr>
        <p:spPr>
          <a:xfrm>
            <a:off x="2381488" y="6954083"/>
            <a:ext cx="596872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SPI-NOR, SPI-NAND, eMMC5.0, 2 x SDIO3.0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/>
        </p:nvSpPr>
        <p:spPr>
          <a:xfrm>
            <a:off x="793790" y="1251109"/>
            <a:ext cx="955893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Conectividade e Especificações Físicas</a:t>
            </a:r>
            <a:endParaRPr b="0" i="0" sz="4450" u="none" cap="none" strike="noStrike"/>
          </a:p>
        </p:txBody>
      </p:sp>
      <p:sp>
        <p:nvSpPr>
          <p:cNvPr id="169" name="Google Shape;169;p8"/>
          <p:cNvSpPr/>
          <p:nvPr/>
        </p:nvSpPr>
        <p:spPr>
          <a:xfrm>
            <a:off x="1857256" y="277082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Rede</a:t>
            </a:r>
            <a:endParaRPr b="0" i="0" sz="2200" u="none" cap="none" strike="noStrike"/>
          </a:p>
        </p:txBody>
      </p:sp>
      <p:sp>
        <p:nvSpPr>
          <p:cNvPr id="170" name="Google Shape;170;p8"/>
          <p:cNvSpPr/>
          <p:nvPr/>
        </p:nvSpPr>
        <p:spPr>
          <a:xfrm>
            <a:off x="793790" y="3261241"/>
            <a:ext cx="389870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10M/100M MAC PHY</a:t>
            </a:r>
            <a:endParaRPr b="0" i="0" sz="1750" u="none" cap="none" strike="noStrike"/>
          </a:p>
        </p:txBody>
      </p:sp>
      <p:pic>
        <p:nvPicPr>
          <p:cNvPr descr="preencoded.png"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6335435" y="3161943"/>
            <a:ext cx="12180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1</a:t>
            </a:r>
            <a:endParaRPr b="0" i="0" sz="2200" u="none" cap="none" strike="noStrike"/>
          </a:p>
        </p:txBody>
      </p:sp>
      <p:sp>
        <p:nvSpPr>
          <p:cNvPr id="173" name="Google Shape;173;p8"/>
          <p:cNvSpPr/>
          <p:nvPr/>
        </p:nvSpPr>
        <p:spPr>
          <a:xfrm>
            <a:off x="9937790" y="277082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Segurança</a:t>
            </a:r>
            <a:endParaRPr b="0" i="0" sz="2200" u="none" cap="none" strike="noStrike"/>
          </a:p>
        </p:txBody>
      </p:sp>
      <p:sp>
        <p:nvSpPr>
          <p:cNvPr id="174" name="Google Shape;174;p8"/>
          <p:cNvSpPr/>
          <p:nvPr/>
        </p:nvSpPr>
        <p:spPr>
          <a:xfrm>
            <a:off x="9937790" y="3261241"/>
            <a:ext cx="3898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Crypto/Secure boot/TRNG/Efuze</a:t>
            </a:r>
            <a:endParaRPr b="0" i="0" sz="1750" u="none" cap="none" strike="noStrike"/>
          </a:p>
        </p:txBody>
      </p:sp>
      <p:pic>
        <p:nvPicPr>
          <p:cNvPr descr="preencoded.png" id="175" name="Google Shape;1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/>
          <p:nvPr/>
        </p:nvSpPr>
        <p:spPr>
          <a:xfrm>
            <a:off x="8543092" y="3550444"/>
            <a:ext cx="158353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2</a:t>
            </a:r>
            <a:endParaRPr b="0" i="0" sz="2200" u="none" cap="none" strike="noStrike"/>
          </a:p>
        </p:txBody>
      </p:sp>
      <p:sp>
        <p:nvSpPr>
          <p:cNvPr id="177" name="Google Shape;177;p8"/>
          <p:cNvSpPr/>
          <p:nvPr/>
        </p:nvSpPr>
        <p:spPr>
          <a:xfrm>
            <a:off x="9937790" y="48604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Periféricos</a:t>
            </a:r>
            <a:endParaRPr b="0" i="0" sz="2200" u="none" cap="none" strike="noStrike"/>
          </a:p>
        </p:txBody>
      </p:sp>
      <p:sp>
        <p:nvSpPr>
          <p:cNvPr id="178" name="Google Shape;178;p8"/>
          <p:cNvSpPr/>
          <p:nvPr/>
        </p:nvSpPr>
        <p:spPr>
          <a:xfrm>
            <a:off x="9937790" y="5350907"/>
            <a:ext cx="3898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1 x USB2.0 DRD/5 x UART/4 x SPI/16 x PWM/1 x IR/6 x I2C/6 x ADC/GPIOs</a:t>
            </a:r>
            <a:endParaRPr b="0" i="0" sz="1750" u="none" cap="none" strike="noStrike"/>
          </a:p>
        </p:txBody>
      </p:sp>
      <p:pic>
        <p:nvPicPr>
          <p:cNvPr descr="preencoded.png" id="179" name="Google Shape;17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8155543" y="5776317"/>
            <a:ext cx="156448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3</a:t>
            </a:r>
            <a:endParaRPr b="0" i="0" sz="2200" u="none" cap="none" strike="noStrike"/>
          </a:p>
        </p:txBody>
      </p:sp>
      <p:sp>
        <p:nvSpPr>
          <p:cNvPr id="181" name="Google Shape;181;p8"/>
          <p:cNvSpPr/>
          <p:nvPr/>
        </p:nvSpPr>
        <p:spPr>
          <a:xfrm>
            <a:off x="1857256" y="467903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Especificações Físicas</a:t>
            </a:r>
            <a:endParaRPr b="0" i="0" sz="2200" u="none" cap="none" strike="noStrike"/>
          </a:p>
        </p:txBody>
      </p:sp>
      <p:sp>
        <p:nvSpPr>
          <p:cNvPr id="182" name="Google Shape;182;p8"/>
          <p:cNvSpPr/>
          <p:nvPr/>
        </p:nvSpPr>
        <p:spPr>
          <a:xfrm>
            <a:off x="793790" y="5169456"/>
            <a:ext cx="3898702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Temperatura: 0℃～70℃, Package Type: LFBGA, Dimensões: 10mm x 10mm x 1.3mm, Pin Pitch: 0.65mm, Total Pins: 205</a:t>
            </a:r>
            <a:endParaRPr b="0" i="0" sz="1750" u="none" cap="none" strike="noStrike"/>
          </a:p>
        </p:txBody>
      </p:sp>
      <p:pic>
        <p:nvPicPr>
          <p:cNvPr descr="preencoded.png" id="183" name="Google Shape;18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/>
          <p:nvPr/>
        </p:nvSpPr>
        <p:spPr>
          <a:xfrm>
            <a:off x="5927765" y="5387816"/>
            <a:ext cx="160139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4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is is the first RISC-V motherboard I've been able to install in a normal computer case. How does it work? Is it ready for prime-time?&#10;&#10;Huge thanks to Christopher Barnatt from @ExplainingComputers for talking to me about RISC-V for this video! And thanks to Milk-V for sending the board to test, and working with me to troubleshoot the WiFi issue I had.&#10;&#10;Milk-V provided the two Jupiter motherboards I used in the making of this video, but did not pay for this review, nor have any input into it's content or production.&#10;&#10;Resources and things I mentioned:&#10;&#10;  - Milk-V Jupiter: https://milkv.io/jupiter&#10;  - Full benchmarks / test details: https://github.com/geerlingguy/sbc-reviews/issues/47&#10;  - ExplainingComputers BPI-F3 RISC-V NAS: https://www.youtube.com/watch?v=UpOy9ydKmPs&#10;  - Level2Jeff video on Fractal Baby North case: https://www.youtube.com/watch?v=ncyl7cTU9k8&#10;  - Level2Jeff video on 10&quot; mini rack: https://www.youtube.com/watch?v=c8-cdA50bpU&#10;&#10;Support me on Patreon: https://www.patreon.com/geerlingguy&#10;Sponsor me on GitHub: https://github.com/sponsors/geerlingguy&#10;Merch: https://www.redshirtjeff.com&#10;2nd Channel: https://www.youtube.com/@GeerlingEngineering&#10;3rd Channel: https://www.youtube.com/@Level2Jeff&#10;&#10;Contents:&#10;&#10;00:00 - Milk-V Jupiter - RISC-V on ITX&#10;01:44 - Testbench (performance)&#10;03:39 - RISC-V perspectives&#10;07:26 - Build montage!&#10;08:38 - RISC-V fare in a minitower?&#10;10:33 - Bianbu and Ubuntu, stable but slow&#10;12:51 - Docker and development&#10;14:33 - Not consumer-level (yet)" id="190" name="Google Shape;190;g33a7b71756a_0_20" title="The PC industry is changing: RISC-V goes mainstrea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613" y="147163"/>
            <a:ext cx="14107175" cy="79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2025-02-27T11:45:37Z</dcterms:created>
  <dc:creator>PptxGenJS</dc:creator>
</cp:coreProperties>
</file>