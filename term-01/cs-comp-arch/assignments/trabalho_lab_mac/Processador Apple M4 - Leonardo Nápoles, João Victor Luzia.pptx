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wo jellyfish against a blue background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wo jellyfish against a pink background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wo jellyfish against a pink background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wo jellyfish touching against a dark blue background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Two jellyfish against a blue background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pple M4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Apple M4</a:t>
            </a:r>
          </a:p>
        </p:txBody>
      </p:sp>
      <p:sp>
        <p:nvSpPr>
          <p:cNvPr id="172" name="Leonardo Nápoles, João Victor Luzi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87044">
              <a:defRPr sz="3539"/>
            </a:lvl1pPr>
          </a:lstStyle>
          <a:p>
            <a:pPr/>
            <a:r>
              <a:t>Leonardo Nápoles, João Victor Luzia</a:t>
            </a:r>
          </a:p>
        </p:txBody>
      </p:sp>
      <p:sp>
        <p:nvSpPr>
          <p:cNvPr id="173" name="Arquitetura de Computadores"/>
          <p:cNvSpPr txBox="1"/>
          <p:nvPr>
            <p:ph type="subTitle" sz="quarter" idx="1"/>
          </p:nvPr>
        </p:nvSpPr>
        <p:spPr>
          <a:xfrm>
            <a:off x="1270000" y="7652420"/>
            <a:ext cx="21844000" cy="2512352"/>
          </a:xfrm>
          <a:prstGeom prst="rect">
            <a:avLst/>
          </a:prstGeom>
        </p:spPr>
        <p:txBody>
          <a:bodyPr/>
          <a:lstStyle/>
          <a:p>
            <a:pPr/>
            <a:r>
              <a:t>Arquitetura de Computadores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rquitetura"/>
          <p:cNvSpPr txBox="1"/>
          <p:nvPr>
            <p:ph type="ctrTitle"/>
          </p:nvPr>
        </p:nvSpPr>
        <p:spPr>
          <a:xfrm>
            <a:off x="40974" y="435492"/>
            <a:ext cx="10377369" cy="3879454"/>
          </a:xfrm>
          <a:prstGeom prst="rect">
            <a:avLst/>
          </a:prstGeom>
        </p:spPr>
        <p:txBody>
          <a:bodyPr/>
          <a:lstStyle/>
          <a:p>
            <a:pPr/>
            <a:r>
              <a:t>Arquitetura</a:t>
            </a:r>
          </a:p>
        </p:txBody>
      </p:sp>
      <p:sp>
        <p:nvSpPr>
          <p:cNvPr id="176" name="ARMv9"/>
          <p:cNvSpPr txBox="1"/>
          <p:nvPr>
            <p:ph type="subTitle" sz="quarter" idx="1"/>
          </p:nvPr>
        </p:nvSpPr>
        <p:spPr>
          <a:xfrm>
            <a:off x="21924" y="4827698"/>
            <a:ext cx="5519428" cy="2512353"/>
          </a:xfrm>
          <a:prstGeom prst="rect">
            <a:avLst/>
          </a:prstGeom>
        </p:spPr>
        <p:txBody>
          <a:bodyPr/>
          <a:lstStyle/>
          <a:p>
            <a:pPr/>
            <a:r>
              <a:t>ARMv9</a:t>
            </a:r>
          </a:p>
        </p:txBody>
      </p:sp>
      <p:sp>
        <p:nvSpPr>
          <p:cNvPr id="177" name="Suporte aprimorado para PCIe hot plug.…"/>
          <p:cNvSpPr txBox="1"/>
          <p:nvPr/>
        </p:nvSpPr>
        <p:spPr>
          <a:xfrm>
            <a:off x="1301255" y="6898049"/>
            <a:ext cx="7856806" cy="3576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76842" indent="-476842" algn="ctr" defTabSz="528319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4096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Suporte aprimorado para PCIe hot plug.</a:t>
            </a:r>
          </a:p>
          <a:p>
            <a:pPr marL="476842" indent="-476842" algn="ctr" defTabSz="528319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4096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Wait for Instruction (WFI), Wait for Event (WFE) com timeout (AArch64)</a:t>
            </a:r>
          </a:p>
        </p:txBody>
      </p:sp>
      <p:pic>
        <p:nvPicPr>
          <p:cNvPr id="17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38480" y="3152220"/>
            <a:ext cx="9087074" cy="58633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Memória Unificada"/>
          <p:cNvSpPr txBox="1"/>
          <p:nvPr>
            <p:ph type="ctrTitle"/>
          </p:nvPr>
        </p:nvSpPr>
        <p:spPr>
          <a:xfrm>
            <a:off x="40974" y="435492"/>
            <a:ext cx="10377369" cy="3879454"/>
          </a:xfrm>
          <a:prstGeom prst="rect">
            <a:avLst/>
          </a:prstGeom>
        </p:spPr>
        <p:txBody>
          <a:bodyPr/>
          <a:lstStyle/>
          <a:p>
            <a:pPr/>
            <a:r>
              <a:t>Memória Unificada</a:t>
            </a:r>
          </a:p>
        </p:txBody>
      </p:sp>
      <p:sp>
        <p:nvSpPr>
          <p:cNvPr id="181" name="Largura de Banda"/>
          <p:cNvSpPr txBox="1"/>
          <p:nvPr>
            <p:ph type="subTitle" sz="quarter" idx="1"/>
          </p:nvPr>
        </p:nvSpPr>
        <p:spPr>
          <a:xfrm>
            <a:off x="21924" y="4827698"/>
            <a:ext cx="10415469" cy="2512353"/>
          </a:xfrm>
          <a:prstGeom prst="rect">
            <a:avLst/>
          </a:prstGeom>
        </p:spPr>
        <p:txBody>
          <a:bodyPr/>
          <a:lstStyle/>
          <a:p>
            <a:pPr/>
            <a:r>
              <a:t>Largura de Banda</a:t>
            </a:r>
          </a:p>
        </p:txBody>
      </p:sp>
      <p:sp>
        <p:nvSpPr>
          <p:cNvPr id="182" name="Memória unificada no SoC (LPDDR5X).…"/>
          <p:cNvSpPr txBox="1"/>
          <p:nvPr/>
        </p:nvSpPr>
        <p:spPr>
          <a:xfrm>
            <a:off x="1301255" y="6898049"/>
            <a:ext cx="7856806" cy="35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96053" indent="-596053" algn="ctr" defTabSz="660400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512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Memória unificada no SoC (LPDDR5X).</a:t>
            </a:r>
          </a:p>
          <a:p>
            <a:pPr marL="596053" indent="-596053" algn="ctr" defTabSz="660400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512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Largura de banda de 120GB/s.</a:t>
            </a:r>
          </a:p>
        </p:txBody>
      </p:sp>
      <p:pic>
        <p:nvPicPr>
          <p:cNvPr id="183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0450693" y="3412549"/>
            <a:ext cx="12250494" cy="6890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Neural Engine"/>
          <p:cNvSpPr txBox="1"/>
          <p:nvPr>
            <p:ph type="ctrTitle"/>
          </p:nvPr>
        </p:nvSpPr>
        <p:spPr>
          <a:xfrm>
            <a:off x="40974" y="383883"/>
            <a:ext cx="10377369" cy="3879454"/>
          </a:xfrm>
          <a:prstGeom prst="rect">
            <a:avLst/>
          </a:prstGeom>
        </p:spPr>
        <p:txBody>
          <a:bodyPr/>
          <a:lstStyle/>
          <a:p>
            <a:pPr/>
            <a:r>
              <a:t>Neural Engine</a:t>
            </a:r>
          </a:p>
        </p:txBody>
      </p:sp>
      <p:sp>
        <p:nvSpPr>
          <p:cNvPr id="186" name="Neural Processing Unit"/>
          <p:cNvSpPr txBox="1"/>
          <p:nvPr>
            <p:ph type="subTitle" sz="quarter" idx="1"/>
          </p:nvPr>
        </p:nvSpPr>
        <p:spPr>
          <a:xfrm>
            <a:off x="21924" y="4827698"/>
            <a:ext cx="10415469" cy="2512353"/>
          </a:xfrm>
          <a:prstGeom prst="rect">
            <a:avLst/>
          </a:prstGeom>
        </p:spPr>
        <p:txBody>
          <a:bodyPr/>
          <a:lstStyle/>
          <a:p>
            <a:pPr/>
            <a:r>
              <a:t>Neural Processing Unit</a:t>
            </a:r>
          </a:p>
        </p:txBody>
      </p:sp>
      <p:sp>
        <p:nvSpPr>
          <p:cNvPr id="187" name="Tem 38 TOPS (trillion operations per second).…"/>
          <p:cNvSpPr txBox="1"/>
          <p:nvPr/>
        </p:nvSpPr>
        <p:spPr>
          <a:xfrm>
            <a:off x="1301255" y="6898049"/>
            <a:ext cx="7856806" cy="357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94885" indent="-394885" algn="ctr" defTabSz="437514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3391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Tem 38 TOPS (trillion operations per second).</a:t>
            </a:r>
          </a:p>
          <a:p>
            <a:pPr marL="394885" indent="-394885" algn="ctr" defTabSz="437514">
              <a:spcBef>
                <a:spcPts val="0"/>
              </a:spcBef>
              <a:buClr>
                <a:srgbClr val="000000"/>
              </a:buClr>
              <a:buSzPct val="100000"/>
              <a:buChar char="-"/>
              <a:defRPr sz="3391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A Neural Engine do chip M4 tem performance 60x maior que o A11 Bionic e aproximadamente 3x maior que a do chip M1.</a:t>
            </a:r>
          </a:p>
        </p:txBody>
      </p:sp>
      <p:pic>
        <p:nvPicPr>
          <p:cNvPr id="18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261" y="3199422"/>
            <a:ext cx="12321742" cy="69278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69579" t="81408" r="0" b="0"/>
          <a:stretch>
            <a:fillRect/>
          </a:stretch>
        </p:blipFill>
        <p:spPr>
          <a:xfrm>
            <a:off x="13339109" y="10288457"/>
            <a:ext cx="6967831" cy="23953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